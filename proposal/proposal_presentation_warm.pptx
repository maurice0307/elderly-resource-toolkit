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強調平台定位不只是長照，而是「中高齡生活資源」的綜合盤點。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表述願景並拉高整體定位。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用圖示化方式呈現平台主要價值。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強調使用流程簡單，適合中高齡與其照顧者。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這一頁要讓政府覺得平台「專業但有溫度」。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用三大區塊展示專業落地架構。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最後呼籲迅速啟動。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D655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ELDERLY TOOLKIT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中高齡資源平台：查詢、學習、分享，陪伴更有溫度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EFD5"/>
                </a:solidFill>
              </a:defRPr>
            </a:pPr>
            <a:r>
              <a:t>2026 / 公私協力提案 • Morris Chiang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91440"/>
            <a:ext cx="11978640" cy="914400"/>
          </a:xfrm>
          <a:prstGeom prst="rect">
            <a:avLst/>
          </a:prstGeom>
          <a:solidFill>
            <a:srgbClr val="FFCB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2B0B"/>
                </a:solidFill>
              </a:defRPr>
            </a:pPr>
            <a:r>
              <a:t>問題陳述：中高齡使用者的資源搜尋困境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743200" cy="411480"/>
          </a:xfrm>
          <a:prstGeom prst="roundRect">
            <a:avLst/>
          </a:prstGeom>
          <a:solidFill>
            <a:srgbClr val="FFE4B5"/>
          </a:solidFill>
          <a:ln>
            <a:solidFill>
              <a:srgbClr val="FFC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7A3E03"/>
                </a:solidFill>
              </a:defRPr>
            </a:pPr>
            <a:r>
              <a:t>資源搜尋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188720"/>
            <a:ext cx="2743200" cy="411480"/>
          </a:xfrm>
          <a:prstGeom prst="roundRect">
            <a:avLst/>
          </a:prstGeom>
          <a:solidFill>
            <a:srgbClr val="FFE4B5"/>
          </a:solidFill>
          <a:ln>
            <a:solidFill>
              <a:srgbClr val="FFC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7A3E03"/>
                </a:solidFill>
              </a:defRPr>
            </a:pPr>
            <a:r>
              <a:t>社群陪伴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188720"/>
            <a:ext cx="2743200" cy="411480"/>
          </a:xfrm>
          <a:prstGeom prst="roundRect">
            <a:avLst/>
          </a:prstGeom>
          <a:solidFill>
            <a:srgbClr val="FFE4B5"/>
          </a:solidFill>
          <a:ln>
            <a:solidFill>
              <a:srgbClr val="FFC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7A3E03"/>
                </a:solidFill>
              </a:defRPr>
            </a:pPr>
            <a:r>
              <a:t>學習工具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4A2B0B"/>
                </a:solidFill>
              </a:defRPr>
            </a:pPr>
            <a:r>
              <a:t>• 中高齡與其照顧者不是只有長照需求，還有健康、社交、交通、學習與生活支持。</a:t>
            </a:r>
          </a:p>
          <a:p>
            <a:pPr>
              <a:spcAft>
                <a:spcPts val="700"/>
              </a:spcAft>
              <a:defRPr sz="2100">
                <a:solidFill>
                  <a:srgbClr val="4A2B0B"/>
                </a:solidFill>
              </a:defRPr>
            </a:pPr>
            <a:r>
              <a:t>• 資訊散落、格式不一，使志工與家屬花大量時間「找資源」，而非「陪伴長者」。</a:t>
            </a:r>
          </a:p>
          <a:p>
            <a:pPr>
              <a:spcAft>
                <a:spcPts val="700"/>
              </a:spcAft>
              <a:defRPr sz="2100">
                <a:solidFill>
                  <a:srgbClr val="4A2B0B"/>
                </a:solidFill>
              </a:defRPr>
            </a:pPr>
            <a:r>
              <a:t>• 缺乏一個可搜尋、可回報、可共享的中高齡資源平台。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655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4A2B0B"/>
                </a:solidFill>
              </a:defRPr>
            </a:pPr>
            <a:r>
              <a:t>我們的願景：讓中高齡生活更自在、學習更快樂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讓每位中高齡使用者與照顧者，都能快速查到適合自己的資源。</a:t>
            </a:r>
          </a:p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讓社區志工與團隊成為資訊貢獻者，不再只是資訊接收者。</a:t>
            </a:r>
          </a:p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讓平台成為「查詢、學習、分享」的快樂工具，而非冷冰冰的資料庫。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4A2B0B"/>
                </a:solidFill>
              </a:defRPr>
            </a:pPr>
            <a:r>
              <a:t>平台核心功能：查詢 / 學習 / 分享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371600"/>
            <a:ext cx="1097280" cy="1097280"/>
          </a:xfrm>
          <a:prstGeom prst="ellipse">
            <a:avLst/>
          </a:prstGeom>
          <a:solidFill>
            <a:srgbClr val="FFCB6B"/>
          </a:solidFill>
          <a:ln>
            <a:solidFill>
              <a:srgbClr val="D6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4A2B0B"/>
                </a:solidFill>
              </a:defRPr>
            </a:pPr>
            <a:r>
              <a:t>查詢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32004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A2B0B"/>
                </a:solidFill>
              </a:defRPr>
            </a:pPr>
            <a:r>
              <a:t>快速搜尋附近資源</a:t>
            </a:r>
          </a:p>
          <a:p>
            <a:pPr>
              <a:defRPr sz="1600">
                <a:solidFill>
                  <a:srgbClr val="653911"/>
                </a:solidFill>
              </a:defRPr>
            </a:pPr>
            <a:r>
              <a:t>電話、地址、導航、一鍵分享</a:t>
            </a:r>
          </a:p>
        </p:txBody>
      </p:sp>
      <p:sp>
        <p:nvSpPr>
          <p:cNvPr id="5" name="Oval 4"/>
          <p:cNvSpPr/>
          <p:nvPr/>
        </p:nvSpPr>
        <p:spPr>
          <a:xfrm>
            <a:off x="4480559" y="1371600"/>
            <a:ext cx="1097280" cy="1097280"/>
          </a:xfrm>
          <a:prstGeom prst="ellipse">
            <a:avLst/>
          </a:prstGeom>
          <a:solidFill>
            <a:srgbClr val="FFCB6B"/>
          </a:solidFill>
          <a:ln>
            <a:solidFill>
              <a:srgbClr val="D6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4A2B0B"/>
                </a:solidFill>
              </a:defRPr>
            </a:pPr>
            <a:r>
              <a:t>學習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59" y="2651760"/>
            <a:ext cx="32004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A2B0B"/>
                </a:solidFill>
              </a:defRPr>
            </a:pPr>
            <a:r>
              <a:t>中高齡適用知識</a:t>
            </a:r>
          </a:p>
          <a:p>
            <a:pPr>
              <a:defRPr sz="1600">
                <a:solidFill>
                  <a:srgbClr val="653911"/>
                </a:solidFill>
              </a:defRPr>
            </a:pPr>
            <a:r>
              <a:t>健康、活動、社會參與指南</a:t>
            </a:r>
          </a:p>
        </p:txBody>
      </p:sp>
      <p:sp>
        <p:nvSpPr>
          <p:cNvPr id="7" name="Oval 6"/>
          <p:cNvSpPr/>
          <p:nvPr/>
        </p:nvSpPr>
        <p:spPr>
          <a:xfrm>
            <a:off x="8229600" y="1371600"/>
            <a:ext cx="1097280" cy="1097280"/>
          </a:xfrm>
          <a:prstGeom prst="ellipse">
            <a:avLst/>
          </a:prstGeom>
          <a:solidFill>
            <a:srgbClr val="FFCB6B"/>
          </a:solidFill>
          <a:ln>
            <a:solidFill>
              <a:srgbClr val="D6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4A2B0B"/>
                </a:solidFill>
              </a:defRPr>
            </a:pPr>
            <a:r>
              <a:t>分享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651760"/>
            <a:ext cx="32004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A2B0B"/>
                </a:solidFill>
              </a:defRPr>
            </a:pPr>
            <a:r>
              <a:t>回報更新與好用經驗</a:t>
            </a:r>
          </a:p>
          <a:p>
            <a:pPr>
              <a:defRPr sz="1600">
                <a:solidFill>
                  <a:srgbClr val="653911"/>
                </a:solidFill>
              </a:defRPr>
            </a:pPr>
            <a:r>
              <a:t>社群共同維護資料品質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4A2B0B"/>
                </a:solidFill>
              </a:defRPr>
            </a:pPr>
            <a:r>
              <a:t>使用流程：從查詢到回報的簡單路徑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2194560" cy="1005840"/>
          </a:xfrm>
          <a:prstGeom prst="roundRect">
            <a:avLst/>
          </a:prstGeom>
          <a:solidFill>
            <a:srgbClr val="FFDDB2"/>
          </a:solidFill>
          <a:ln>
            <a:solidFill>
              <a:srgbClr val="D6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4A2B0B"/>
                </a:solidFill>
              </a:defRPr>
            </a:pPr>
            <a:r>
              <a:t>1. 打開平台</a:t>
            </a:r>
          </a:p>
          <a:p>
            <a:pPr>
              <a:defRPr sz="1400">
                <a:solidFill>
                  <a:srgbClr val="4A2B0B"/>
                </a:solidFill>
              </a:defRPr>
            </a:pPr>
            <a:r>
              <a:t>首頁或 LINE LIFF，快速找到最近資源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926080" y="1783080"/>
            <a:ext cx="274320" cy="0"/>
          </a:xfrm>
          <a:prstGeom prst="line">
            <a:avLst/>
          </a:prstGeom>
          <a:ln w="25400">
            <a:solidFill>
              <a:srgbClr val="4A2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200400" y="1280160"/>
            <a:ext cx="2194560" cy="1005840"/>
          </a:xfrm>
          <a:prstGeom prst="roundRect">
            <a:avLst/>
          </a:prstGeom>
          <a:solidFill>
            <a:srgbClr val="FFDDB2"/>
          </a:solidFill>
          <a:ln>
            <a:solidFill>
              <a:srgbClr val="D6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4A2B0B"/>
                </a:solidFill>
              </a:defRPr>
            </a:pPr>
            <a:r>
              <a:t>2. 搜尋資源</a:t>
            </a:r>
          </a:p>
          <a:p>
            <a:pPr>
              <a:defRPr sz="1400">
                <a:solidFill>
                  <a:srgbClr val="4A2B0B"/>
                </a:solidFill>
              </a:defRPr>
            </a:pPr>
            <a:r>
              <a:t>關鍵字、分類與地圖定位，立即查看條件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94960" y="1783080"/>
            <a:ext cx="274320" cy="0"/>
          </a:xfrm>
          <a:prstGeom prst="line">
            <a:avLst/>
          </a:prstGeom>
          <a:ln w="25400">
            <a:solidFill>
              <a:srgbClr val="4A2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79" y="1280160"/>
            <a:ext cx="2194560" cy="1005840"/>
          </a:xfrm>
          <a:prstGeom prst="roundRect">
            <a:avLst/>
          </a:prstGeom>
          <a:solidFill>
            <a:srgbClr val="FFDDB2"/>
          </a:solidFill>
          <a:ln>
            <a:solidFill>
              <a:srgbClr val="D6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4A2B0B"/>
                </a:solidFill>
              </a:defRPr>
            </a:pPr>
            <a:r>
              <a:t>3. 確認詳情</a:t>
            </a:r>
          </a:p>
          <a:p>
            <a:pPr>
              <a:defRPr sz="1400">
                <a:solidFill>
                  <a:srgbClr val="4A2B0B"/>
                </a:solidFill>
              </a:defRPr>
            </a:pPr>
            <a:r>
              <a:t>查看評價、官方標記與最近回報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863840" y="1783080"/>
            <a:ext cx="274320" cy="0"/>
          </a:xfrm>
          <a:prstGeom prst="line">
            <a:avLst/>
          </a:prstGeom>
          <a:ln w="25400">
            <a:solidFill>
              <a:srgbClr val="4A2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138160" y="1280160"/>
            <a:ext cx="2194560" cy="1005840"/>
          </a:xfrm>
          <a:prstGeom prst="roundRect">
            <a:avLst/>
          </a:prstGeom>
          <a:solidFill>
            <a:srgbClr val="FFDDB2"/>
          </a:solidFill>
          <a:ln>
            <a:solidFill>
              <a:srgbClr val="D6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4A2B0B"/>
                </a:solidFill>
              </a:defRPr>
            </a:pPr>
            <a:r>
              <a:t>4. 回報更新</a:t>
            </a:r>
          </a:p>
          <a:p>
            <a:pPr>
              <a:defRPr sz="1400">
                <a:solidFill>
                  <a:srgbClr val="4A2B0B"/>
                </a:solidFill>
              </a:defRPr>
            </a:pPr>
            <a:r>
              <a:t>一鍵舉報或提出修正，讓資料持續活化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655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4A2B0B"/>
                </a:solidFill>
              </a:defRPr>
            </a:pPr>
            <a:r>
              <a:t>平台亮點：溫暖、友善、可靠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大字體、高對比、語音輔助，專為中高齡設計。</a:t>
            </a:r>
          </a:p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社群投稿 + 自動化初篩 + moderator 審核，兼顧速度與品質。</a:t>
            </a:r>
          </a:p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標準化資料輸出，支援政府與公私協力單位同步使用。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4A2B0B"/>
                </a:solidFill>
              </a:defRPr>
            </a:pPr>
            <a:r>
              <a:t>專業化落地方案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383280" cy="3840480"/>
          </a:xfrm>
          <a:prstGeom prst="roundRect">
            <a:avLst/>
          </a:prstGeom>
          <a:solidFill>
            <a:srgbClr val="FFEECC"/>
          </a:solidFill>
          <a:ln>
            <a:solidFill>
              <a:srgbClr val="D6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4A2B0B"/>
                </a:solidFill>
              </a:defRPr>
            </a:pPr>
            <a:r>
              <a:t>目前成果</a:t>
            </a:r>
          </a:p>
          <a:p>
            <a:pPr>
              <a:defRPr sz="1600">
                <a:solidFill>
                  <a:srgbClr val="4A2B0B"/>
                </a:solidFill>
              </a:defRPr>
            </a:pPr>
            <a:r>
              <a:t>• 核心功能已上線</a:t>
            </a:r>
          </a:p>
          <a:p>
            <a:pPr>
              <a:defRPr sz="1600">
                <a:solidFill>
                  <a:srgbClr val="4A2B0B"/>
                </a:solidFill>
              </a:defRPr>
            </a:pPr>
            <a:r>
              <a:t>• RLS 安全與角色控管</a:t>
            </a:r>
          </a:p>
          <a:p>
            <a:pPr>
              <a:defRPr sz="1600">
                <a:solidFill>
                  <a:srgbClr val="4A2B0B"/>
                </a:solidFill>
              </a:defRPr>
            </a:pPr>
            <a:r>
              <a:t>• 支援資源匯出與審核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280160"/>
            <a:ext cx="3383280" cy="3840480"/>
          </a:xfrm>
          <a:prstGeom prst="roundRect">
            <a:avLst/>
          </a:prstGeom>
          <a:solidFill>
            <a:srgbClr val="FFEECC"/>
          </a:solidFill>
          <a:ln>
            <a:solidFill>
              <a:srgbClr val="D6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4A2B0B"/>
                </a:solidFill>
              </a:defRPr>
            </a:pPr>
            <a:r>
              <a:t>合作模式</a:t>
            </a:r>
          </a:p>
          <a:p>
            <a:pPr>
              <a:defRPr sz="1600">
                <a:solidFill>
                  <a:srgbClr val="4A2B0B"/>
                </a:solidFill>
              </a:defRPr>
            </a:pPr>
            <a:r>
              <a:t>• 民間維運 + 政府背書</a:t>
            </a:r>
          </a:p>
          <a:p>
            <a:pPr>
              <a:defRPr sz="1600">
                <a:solidFill>
                  <a:srgbClr val="4A2B0B"/>
                </a:solidFill>
              </a:defRPr>
            </a:pPr>
            <a:r>
              <a:t>• 每日/每週資料同步</a:t>
            </a:r>
          </a:p>
          <a:p>
            <a:pPr>
              <a:defRPr sz="1600">
                <a:solidFill>
                  <a:srgbClr val="4A2B0B"/>
                </a:solidFill>
              </a:defRPr>
            </a:pPr>
            <a:r>
              <a:t>• 官方認證與試點驗收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280160"/>
            <a:ext cx="3383280" cy="3840480"/>
          </a:xfrm>
          <a:prstGeom prst="roundRect">
            <a:avLst/>
          </a:prstGeom>
          <a:solidFill>
            <a:srgbClr val="FFEECC"/>
          </a:solidFill>
          <a:ln>
            <a:solidFill>
              <a:srgbClr val="D6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4A2B0B"/>
                </a:solidFill>
              </a:defRPr>
            </a:pPr>
            <a:r>
              <a:t>試點指標</a:t>
            </a:r>
          </a:p>
          <a:p>
            <a:pPr>
              <a:defRPr sz="1600">
                <a:solidFill>
                  <a:srgbClr val="4A2B0B"/>
                </a:solidFill>
              </a:defRPr>
            </a:pPr>
            <a:r>
              <a:t>• 6 個月試點</a:t>
            </a:r>
          </a:p>
          <a:p>
            <a:pPr>
              <a:defRPr sz="1600">
                <a:solidFill>
                  <a:srgbClr val="4A2B0B"/>
                </a:solidFill>
              </a:defRPr>
            </a:pPr>
            <a:r>
              <a:t>• 資源更新率 ≥ 80%</a:t>
            </a:r>
          </a:p>
          <a:p>
            <a:pPr>
              <a:defRPr sz="1600">
                <a:solidFill>
                  <a:srgbClr val="4A2B0B"/>
                </a:solidFill>
              </a:defRPr>
            </a:pPr>
            <a:r>
              <a:t>• 資料正確率 ≥ 95%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655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4A2B0B"/>
                </a:solidFill>
              </a:defRPr>
            </a:pPr>
            <a:r>
              <a:t>下一步：共創中高齡資料平台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簽署 MOU 並選定試點縣市。</a:t>
            </a:r>
          </a:p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建立政府與社群共同的運作機制。</a:t>
            </a:r>
          </a:p>
          <a:p>
            <a:pPr>
              <a:spcAft>
                <a:spcPts val="800"/>
              </a:spcAft>
              <a:defRPr sz="2200">
                <a:solidFill>
                  <a:srgbClr val="4A2B0B"/>
                </a:solidFill>
              </a:defRPr>
            </a:pPr>
            <a:r>
              <a:t>快速上線試點，驗證「查詢 + 回報 + 學習」價值。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